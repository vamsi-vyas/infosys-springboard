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4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Trips</c:v>
                </c:pt>
              </c:strCache>
            </c:strRef>
          </c:tx>
          <c:spPr>
            <a:solidFill>
              <a:srgbClr val="1E66F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6am</c:v>
                  </c:pt>
                  <c:pt idx="1">
                    <c:v>8am</c:v>
                  </c:pt>
                  <c:pt idx="2">
                    <c:v>10am</c:v>
                  </c:pt>
                  <c:pt idx="3">
                    <c:v>12pm</c:v>
                  </c:pt>
                  <c:pt idx="4">
                    <c:v>2pm</c:v>
                  </c:pt>
                  <c:pt idx="5">
                    <c:v>4pm</c:v>
                  </c:pt>
                  <c:pt idx="6">
                    <c:v>6pm</c:v>
                  </c:pt>
                  <c:pt idx="7">
                    <c:v>8pm</c:v>
                  </c:pt>
                  <c:pt idx="8">
                    <c:v>10pm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420</c:v>
                </c:pt>
                <c:pt idx="1">
                  <c:v>1380</c:v>
                </c:pt>
                <c:pt idx="2">
                  <c:v>860</c:v>
                </c:pt>
                <c:pt idx="3">
                  <c:v>690</c:v>
                </c:pt>
                <c:pt idx="4">
                  <c:v>610</c:v>
                </c:pt>
                <c:pt idx="5">
                  <c:v>780</c:v>
                </c:pt>
                <c:pt idx="6">
                  <c:v>1620</c:v>
                </c:pt>
                <c:pt idx="7">
                  <c:v>1940</c:v>
                </c:pt>
                <c:pt idx="8">
                  <c:v>990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Surge Multiplier</c:v>
                </c:pt>
              </c:strCache>
            </c:strRef>
          </c:tx>
          <c:spPr>
            <a:solidFill>
              <a:srgbClr val="00B37E"/>
            </a:solidFill>
            <a:ln w="38100" cap="flat">
              <a:solidFill>
                <a:srgbClr val="00B37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B37E"/>
              </a:solidFill>
              <a:ln w="9525" cap="flat">
                <a:solidFill>
                  <a:srgbClr val="00B37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6am</c:v>
                  </c:pt>
                  <c:pt idx="1">
                    <c:v>8am</c:v>
                  </c:pt>
                  <c:pt idx="2">
                    <c:v>10am</c:v>
                  </c:pt>
                  <c:pt idx="3">
                    <c:v>12pm</c:v>
                  </c:pt>
                  <c:pt idx="4">
                    <c:v>2pm</c:v>
                  </c:pt>
                  <c:pt idx="5">
                    <c:v>4pm</c:v>
                  </c:pt>
                  <c:pt idx="6">
                    <c:v>6pm</c:v>
                  </c:pt>
                  <c:pt idx="7">
                    <c:v>8pm</c:v>
                  </c:pt>
                  <c:pt idx="8">
                    <c:v>10pm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1.05</c:v>
                </c:pt>
                <c:pt idx="1">
                  <c:v>1.35</c:v>
                </c:pt>
                <c:pt idx="2">
                  <c:v>1.1</c:v>
                </c:pt>
                <c:pt idx="3">
                  <c:v>1</c:v>
                </c:pt>
                <c:pt idx="4">
                  <c:v>1.02</c:v>
                </c:pt>
                <c:pt idx="5">
                  <c:v>1.08</c:v>
                </c:pt>
                <c:pt idx="6">
                  <c:v>1.55</c:v>
                </c:pt>
                <c:pt idx="7">
                  <c:v>1.68</c:v>
                </c:pt>
                <c:pt idx="8">
                  <c:v>1.2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5"/>
        <c:axId val="2094734553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68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7EE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000000"/>
                    </a:solidFill>
                    <a:latin typeface="Arial"/>
                  </a:rPr>
                  <a:t>Trips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6B768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valAx>
        <c:axId val="2094734553"/>
        <c:scaling>
          <c:orientation val="minMax"/>
          <c:max val="2"/>
          <c:min val="0.8"/>
        </c:scaling>
        <c:delete val="0"/>
        <c:axPos val="r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000000"/>
                    </a:solidFill>
                    <a:latin typeface="Arial"/>
                  </a:rPr>
                  <a:t>Surge (x)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6B7686"/>
                </a:solidFill>
                <a:latin typeface="Arial"/>
              </a:defRPr>
            </a:pPr>
            <a:endParaRPr lang="en-US"/>
          </a:p>
        </c:txPr>
        <c:crossAx val="2094734555"/>
        <c:crosses val="max"/>
        <c:crossBetween val="between"/>
      </c:valAx>
      <c:catAx>
        <c:axId val="20947345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686"/>
                </a:solidFill>
                <a:latin typeface="Arial"/>
              </a:defRPr>
            </a:pPr>
            <a:endParaRPr lang="en-US"/>
          </a:p>
        </c:txPr>
        <c:crossAx val="2094734553"/>
        <c:crosses val="autoZero"/>
        <c:auto val="1"/>
        <c:lblAlgn val="ctr"/>
        <c:noMultiLvlLbl val="1"/>
      </c:cat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Utilization %</c:v>
                </c:pt>
              </c:strCache>
            </c:strRef>
          </c:tx>
          <c:spPr>
            <a:solidFill>
              <a:srgbClr val="1E66F5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1621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Central Hub</c:v>
                  </c:pt>
                  <c:pt idx="1">
                    <c:v>Riverside</c:v>
                  </c:pt>
                  <c:pt idx="2">
                    <c:v>Tech Park</c:v>
                  </c:pt>
                  <c:pt idx="3">
                    <c:v>College Ave</c:v>
                  </c:pt>
                  <c:pt idx="4">
                    <c:v>Old Town</c:v>
                  </c:pt>
                  <c:pt idx="5">
                    <c:v>Harbor View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91</c:v>
                </c:pt>
                <c:pt idx="1">
                  <c:v>83</c:v>
                </c:pt>
                <c:pt idx="2">
                  <c:v>74</c:v>
                </c:pt>
                <c:pt idx="3">
                  <c:v>62</c:v>
                </c:pt>
                <c:pt idx="4">
                  <c:v>45</c:v>
                </c:pt>
                <c:pt idx="5">
                  <c:v>28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950" u="none">
                  <a:solidFill>
                    <a:srgbClr val="1621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68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9525" cap="flat">
              <a:solidFill>
                <a:srgbClr val="E3E7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6B768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Stations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B37E"/>
              </a:solidFill>
              <a:effectLst/>
            </c:spPr>
          </c:dPt>
          <c:dPt>
            <c:idx val="1"/>
            <c:bubble3D val="0"/>
            <c:spPr>
              <a:solidFill>
                <a:srgbClr val="1E66F5"/>
              </a:solidFill>
              <a:effectLst/>
            </c:spPr>
          </c:dPt>
          <c:dPt>
            <c:idx val="2"/>
            <c:bubble3D val="0"/>
            <c:spPr>
              <a:solidFill>
                <a:srgbClr val="D64545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High Availability</c:v>
                </c:pt>
                <c:pt idx="1">
                  <c:v>Balanced</c:v>
                </c:pt>
                <c:pt idx="2">
                  <c:v>Low / Empty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58</c:v>
                </c:pt>
                <c:pt idx="1">
                  <c:v>74</c:v>
                </c:pt>
                <c:pt idx="2">
                  <c:v>34</c:v>
                </c:pt>
              </c:numCache>
            </c:numRef>
          </c:val>
        </c:ser>
        <c:firstSliceAng val="0"/>
        <c:holeSize val="60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Mode 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B1F3A"/>
              </a:solidFill>
              <a:effectLst/>
            </c:spPr>
          </c:dPt>
          <c:dPt>
            <c:idx val="1"/>
            <c:bubble3D val="0"/>
            <c:spPr>
              <a:solidFill>
                <a:srgbClr val="1E66F5"/>
              </a:solidFill>
              <a:effectLst/>
            </c:spPr>
          </c:dPt>
          <c:dPt>
            <c:idx val="2"/>
            <c:bubble3D val="0"/>
            <c:spPr>
              <a:solidFill>
                <a:srgbClr val="00B37E"/>
              </a:solidFill>
              <a:effectLst/>
            </c:spPr>
          </c:dPt>
          <c:dPt>
            <c:idx val="3"/>
            <c:bubble3D val="0"/>
            <c:spPr>
              <a:solidFill>
                <a:srgbClr val="F2A93B"/>
              </a:solidFill>
              <a:effectLst/>
            </c:spPr>
          </c:dPt>
          <c:dPt>
            <c:idx val="4"/>
            <c:bubble3D val="0"/>
            <c:spPr>
              <a:solidFill>
                <a:srgbClr val="9AA6B2"/>
              </a:solidFill>
              <a:effectLst/>
            </c:spPr>
          </c:dPt>
          <c:dLbls>
            <c:dLbl>
              <c:idx val="0"/>
              <c:numFmt formatCode="0&quot;%&quot;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&quot;%&quot;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0&quot;%&quot;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0&quot;%&quot;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0&quot;%&quot;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Public Transit</c:v>
                </c:pt>
                <c:pt idx="1">
                  <c:v>Ride-Hailing</c:v>
                </c:pt>
                <c:pt idx="2">
                  <c:v>Bike-Share</c:v>
                </c:pt>
                <c:pt idx="3">
                  <c:v>Walking</c:v>
                </c:pt>
                <c:pt idx="4">
                  <c:v>Other Modes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34</c:v>
                </c:pt>
                <c:pt idx="1">
                  <c:v>27</c:v>
                </c:pt>
                <c:pt idx="2">
                  <c:v>18</c:v>
                </c:pt>
                <c:pt idx="3">
                  <c:v>15</c:v>
                </c:pt>
                <c:pt idx="4">
                  <c:v>6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 Trips</c:v>
                </c:pt>
              </c:strCache>
            </c:strRef>
          </c:tx>
          <c:spPr>
            <a:solidFill>
              <a:srgbClr val="1E66F5"/>
            </a:solidFill>
            <a:ln w="38100" cap="flat">
              <a:solidFill>
                <a:srgbClr val="1E66F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E66F5"/>
              </a:solidFill>
              <a:ln w="9525" cap="flat">
                <a:solidFill>
                  <a:srgbClr val="1E66F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Mon</c:v>
                  </c:pt>
                  <c:pt idx="1">
                    <c:v>Tue</c:v>
                  </c:pt>
                  <c:pt idx="2">
                    <c:v>Wed</c:v>
                  </c:pt>
                  <c:pt idx="3">
                    <c:v>Thu</c:v>
                  </c:pt>
                  <c:pt idx="4">
                    <c:v>Fri</c:v>
                  </c:pt>
                  <c:pt idx="5">
                    <c:v>Sat</c:v>
                  </c:pt>
                  <c:pt idx="6">
                    <c:v>Sun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18200</c:v>
                </c:pt>
                <c:pt idx="1">
                  <c:v>17650</c:v>
                </c:pt>
                <c:pt idx="2">
                  <c:v>19100</c:v>
                </c:pt>
                <c:pt idx="3">
                  <c:v>18800</c:v>
                </c:pt>
                <c:pt idx="4">
                  <c:v>22400</c:v>
                </c:pt>
                <c:pt idx="5">
                  <c:v>26100</c:v>
                </c:pt>
                <c:pt idx="6">
                  <c:v>21300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Forecasted Trips</c:v>
                </c:pt>
              </c:strCache>
            </c:strRef>
          </c:tx>
          <c:spPr>
            <a:solidFill>
              <a:srgbClr val="00B37E"/>
            </a:solidFill>
            <a:ln w="38100" cap="flat">
              <a:solidFill>
                <a:srgbClr val="00B37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B37E"/>
              </a:solidFill>
              <a:ln w="9525" cap="flat">
                <a:solidFill>
                  <a:srgbClr val="00B37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Mon</c:v>
                  </c:pt>
                  <c:pt idx="1">
                    <c:v>Tue</c:v>
                  </c:pt>
                  <c:pt idx="2">
                    <c:v>Wed</c:v>
                  </c:pt>
                  <c:pt idx="3">
                    <c:v>Thu</c:v>
                  </c:pt>
                  <c:pt idx="4">
                    <c:v>Fri</c:v>
                  </c:pt>
                  <c:pt idx="5">
                    <c:v>Sat</c:v>
                  </c:pt>
                  <c:pt idx="6">
                    <c:v>Sun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17800</c:v>
                </c:pt>
                <c:pt idx="1">
                  <c:v>18000</c:v>
                </c:pt>
                <c:pt idx="2">
                  <c:v>18900</c:v>
                </c:pt>
                <c:pt idx="3">
                  <c:v>19200</c:v>
                </c:pt>
                <c:pt idx="4">
                  <c:v>22000</c:v>
                </c:pt>
                <c:pt idx="5">
                  <c:v>25400</c:v>
                </c:pt>
                <c:pt idx="6">
                  <c:v>21900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68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7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6B768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1" Type="http://schemas.openxmlformats.org/officeDocument/2006/relationships/image" Target="../media/image-3-1.png"/><Relationship Id="rId4" Type="http://schemas.openxmlformats.org/officeDocument/2006/relationships/image" Target="../media/image-3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4.xml"/><Relationship Id="rId1" Type="http://schemas.openxmlformats.org/officeDocument/2006/relationships/image" Target="../media/image-4-1.png"/><Relationship Id="rId3" Type="http://schemas.openxmlformats.org/officeDocument/2006/relationships/image" Target="../media/image-4-2.png"/><Relationship Id="rId4" Type="http://schemas.openxmlformats.org/officeDocument/2006/relationships/image" Target="../media/image-4-3.png"/><Relationship Id="rId5" Type="http://schemas.openxmlformats.org/officeDocument/2006/relationships/image" Target="../media/image-4-4.png"/><Relationship Id="rId6" Type="http://schemas.openxmlformats.org/officeDocument/2006/relationships/image" Target="../media/image-4-5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5.xml"/><Relationship Id="rId1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46888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395728"/>
            <a:ext cx="12191695" cy="73152"/>
          </a:xfrm>
          <a:prstGeom prst="rect">
            <a:avLst/>
          </a:prstGeom>
          <a:solidFill>
            <a:srgbClr val="1E66F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B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PULSE  •  SMART CITY MOBILITY INTELLIGENCE PLATFORM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31520"/>
            <a:ext cx="868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3: Demand Intelligence</a:t>
            </a:r>
            <a:endParaRPr lang="en-US" sz="3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Mobility Analytics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1691640" cy="384048"/>
          </a:xfrm>
          <a:prstGeom prst="roundRect">
            <a:avLst>
              <a:gd name="adj" fmla="val 19048"/>
            </a:avLst>
          </a:prstGeom>
          <a:solidFill>
            <a:srgbClr val="00B37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182880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5–6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788920"/>
            <a:ext cx="11277295" cy="868680"/>
          </a:xfrm>
          <a:prstGeom prst="roundRect">
            <a:avLst>
              <a:gd name="adj" fmla="val 8421"/>
            </a:avLst>
          </a:prstGeom>
          <a:solidFill>
            <a:srgbClr val="E8F0FE"/>
          </a:solidFill>
          <a:ln w="12700">
            <a:solidFill>
              <a:srgbClr val="CBDCF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2999232"/>
            <a:ext cx="457200" cy="457200"/>
          </a:xfrm>
          <a:prstGeom prst="ellipse">
            <a:avLst/>
          </a:prstGeom>
          <a:solidFill>
            <a:srgbClr val="1E66F5"/>
          </a:solidFill>
          <a:ln/>
        </p:spPr>
      </p:sp>
      <p:pic>
        <p:nvPicPr>
          <p:cNvPr id="10" name="Image 0" descr="/home/claude/urbanpulse/icons/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3108960"/>
            <a:ext cx="237744" cy="237744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371600" y="2880360"/>
            <a:ext cx="9966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 </a:t>
            </a:r>
            <a:pPr indent="0" marL="0">
              <a:buNone/>
            </a:pPr>
            <a:r>
              <a:rPr lang="en-US" sz="135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mobility demand and identify changing travel patterns across ride-hailing, micromobility, and multimodal networks — turning raw trip data into forecasting-ready intelligence.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39136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CORE COMPONENTS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57200" y="4279392"/>
            <a:ext cx="2615184" cy="1965960"/>
          </a:xfrm>
          <a:prstGeom prst="roundRect">
            <a:avLst>
              <a:gd name="adj" fmla="val 4186"/>
            </a:avLst>
          </a:prstGeom>
          <a:solidFill>
            <a:srgbClr val="F5F7FA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6B2">
                <a:alpha val="2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1444752" y="4535424"/>
            <a:ext cx="640080" cy="640080"/>
          </a:xfrm>
          <a:prstGeom prst="ellipse">
            <a:avLst/>
          </a:prstGeom>
          <a:solidFill>
            <a:srgbClr val="1E66F5"/>
          </a:solidFill>
          <a:ln/>
        </p:spPr>
      </p:sp>
      <p:pic>
        <p:nvPicPr>
          <p:cNvPr id="15" name="Image 1" descr="/home/claude/urbanpulse/icons/ride_hail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1056" y="4681728"/>
            <a:ext cx="347472" cy="347472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566928" y="5303520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Ride-Hailing</a:t>
            </a:r>
            <a:endParaRPr lang="en-US" sz="1450" dirty="0"/>
          </a:p>
        </p:txBody>
      </p:sp>
      <p:sp>
        <p:nvSpPr>
          <p:cNvPr id="17" name="Text 13"/>
          <p:cNvSpPr txBox="1"/>
          <p:nvPr/>
        </p:nvSpPr>
        <p:spPr>
          <a:xfrm>
            <a:off x="621792" y="5614416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 demand, surge pricing, fares &amp; peak-hour patterns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3291840" y="4279392"/>
            <a:ext cx="2615184" cy="1965960"/>
          </a:xfrm>
          <a:prstGeom prst="roundRect">
            <a:avLst>
              <a:gd name="adj" fmla="val 4186"/>
            </a:avLst>
          </a:prstGeom>
          <a:solidFill>
            <a:srgbClr val="F5F7FA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6B2">
                <a:alpha val="2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279392" y="4535424"/>
            <a:ext cx="640080" cy="640080"/>
          </a:xfrm>
          <a:prstGeom prst="ellipse">
            <a:avLst/>
          </a:prstGeom>
          <a:solidFill>
            <a:srgbClr val="00B37E"/>
          </a:solidFill>
          <a:ln/>
        </p:spPr>
      </p:sp>
      <p:pic>
        <p:nvPicPr>
          <p:cNvPr id="20" name="Image 2" descr="/home/claude/urbanpulse/icons/micromobilit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5696" y="4681728"/>
            <a:ext cx="347472" cy="347472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3401568" y="5303520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Micromobility</a:t>
            </a:r>
            <a:endParaRPr lang="en-US" sz="1450" dirty="0"/>
          </a:p>
        </p:txBody>
      </p:sp>
      <p:sp>
        <p:nvSpPr>
          <p:cNvPr id="22" name="Text 17"/>
          <p:cNvSpPr txBox="1"/>
          <p:nvPr/>
        </p:nvSpPr>
        <p:spPr>
          <a:xfrm>
            <a:off x="3456432" y="5614416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Bike-share utilization, turnover &amp; rebalancing needs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6126480" y="4279392"/>
            <a:ext cx="2615184" cy="1965960"/>
          </a:xfrm>
          <a:prstGeom prst="roundRect">
            <a:avLst>
              <a:gd name="adj" fmla="val 4186"/>
            </a:avLst>
          </a:prstGeom>
          <a:solidFill>
            <a:srgbClr val="F5F7FA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6B2">
                <a:alpha val="2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7114032" y="4535424"/>
            <a:ext cx="640080" cy="640080"/>
          </a:xfrm>
          <a:prstGeom prst="ellipse">
            <a:avLst/>
          </a:prstGeom>
          <a:solidFill>
            <a:srgbClr val="1E66F5"/>
          </a:solidFill>
          <a:ln/>
        </p:spPr>
      </p:sp>
      <p:pic>
        <p:nvPicPr>
          <p:cNvPr id="25" name="Image 3" descr="/home/claude/urbanpulse/icons/modal_su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0336" y="4681728"/>
            <a:ext cx="347472" cy="347472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6236208" y="5303520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 Substitution</a:t>
            </a:r>
            <a:endParaRPr lang="en-US" sz="1450" dirty="0"/>
          </a:p>
        </p:txBody>
      </p:sp>
      <p:sp>
        <p:nvSpPr>
          <p:cNvPr id="27" name="Text 21"/>
          <p:cNvSpPr txBox="1"/>
          <p:nvPr/>
        </p:nvSpPr>
        <p:spPr>
          <a:xfrm>
            <a:off x="6291072" y="5614416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travelers switch between transport modes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8961120" y="4279392"/>
            <a:ext cx="2615184" cy="1965960"/>
          </a:xfrm>
          <a:prstGeom prst="roundRect">
            <a:avLst>
              <a:gd name="adj" fmla="val 4186"/>
            </a:avLst>
          </a:prstGeom>
          <a:solidFill>
            <a:srgbClr val="F5F7FA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6B2">
                <a:alpha val="20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9948672" y="4535424"/>
            <a:ext cx="640080" cy="640080"/>
          </a:xfrm>
          <a:prstGeom prst="ellipse">
            <a:avLst/>
          </a:prstGeom>
          <a:solidFill>
            <a:srgbClr val="00B37E"/>
          </a:solidFill>
          <a:ln/>
        </p:spPr>
      </p:sp>
      <p:pic>
        <p:nvPicPr>
          <p:cNvPr id="30" name="Image 4" descr="/home/claude/urbanpulse/icons/forecasting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94976" y="4681728"/>
            <a:ext cx="347472" cy="347472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9070848" y="5303520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&amp; Forecasting</a:t>
            </a:r>
            <a:endParaRPr lang="en-US" sz="1450" dirty="0"/>
          </a:p>
        </p:txBody>
      </p:sp>
      <p:sp>
        <p:nvSpPr>
          <p:cNvPr id="32" name="Text 25"/>
          <p:cNvSpPr txBox="1"/>
          <p:nvPr/>
        </p:nvSpPr>
        <p:spPr>
          <a:xfrm>
            <a:off x="9125712" y="5614416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sensitivity and demand forecasting models</a:t>
            </a:r>
            <a:endParaRPr lang="en-US" sz="1050" dirty="0"/>
          </a:p>
        </p:txBody>
      </p:sp>
      <p:sp>
        <p:nvSpPr>
          <p:cNvPr id="33" name="Text 26"/>
          <p:cNvSpPr txBox="1"/>
          <p:nvPr/>
        </p:nvSpPr>
        <p:spPr>
          <a:xfrm>
            <a:off x="457200" y="654710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Pulse  •  Smart City Mobility Intelligence Platform  •  Milestone 3</a:t>
            </a:r>
            <a:endParaRPr lang="en-US" sz="900" dirty="0"/>
          </a:p>
        </p:txBody>
      </p:sp>
      <p:sp>
        <p:nvSpPr>
          <p:cNvPr id="34" name="Text 27"/>
          <p:cNvSpPr txBox="1"/>
          <p:nvPr/>
        </p:nvSpPr>
        <p:spPr>
          <a:xfrm>
            <a:off x="11277295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19456"/>
            <a:ext cx="621792" cy="621792"/>
          </a:xfrm>
          <a:prstGeom prst="ellipse">
            <a:avLst/>
          </a:prstGeom>
          <a:solidFill>
            <a:srgbClr val="1E66F5"/>
          </a:solidFill>
          <a:ln/>
        </p:spPr>
      </p:sp>
      <p:pic>
        <p:nvPicPr>
          <p:cNvPr id="4" name="Image 0" descr="/home/claude/urbanpulse/icons/ride_hail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" y="370332"/>
            <a:ext cx="320040" cy="3200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34440" y="1645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B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01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1234440" y="38404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Ride-Hailing Intelligence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9448495" y="164592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FB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PULSE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" y="1280160"/>
            <a:ext cx="2615184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6B2">
                <a:alpha val="2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7200" y="1280160"/>
            <a:ext cx="54864" cy="10515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21792" y="1408176"/>
            <a:ext cx="228600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E6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24.6K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621792" y="17647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Trip Demand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621792" y="203911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12% vs last week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291840" y="1280160"/>
            <a:ext cx="2615184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6B2">
                <a:alpha val="2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91840" y="1280160"/>
            <a:ext cx="54864" cy="10515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3456432" y="1408176"/>
            <a:ext cx="228600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1.42x</a:t>
            </a:r>
            <a:endParaRPr lang="en-US" sz="2600" dirty="0"/>
          </a:p>
        </p:txBody>
      </p:sp>
      <p:sp>
        <p:nvSpPr>
          <p:cNvPr id="16" name="Text 13"/>
          <p:cNvSpPr txBox="1"/>
          <p:nvPr/>
        </p:nvSpPr>
        <p:spPr>
          <a:xfrm>
            <a:off x="3456432" y="17647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Surge Multiplier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3456432" y="203911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0.08x peak hours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126480" y="1280160"/>
            <a:ext cx="2615184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6B2">
                <a:alpha val="2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126480" y="1280160"/>
            <a:ext cx="54864" cy="10515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291072" y="1408176"/>
            <a:ext cx="228600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00B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₹238</a:t>
            </a:r>
            <a:endParaRPr lang="en-US" sz="2600" dirty="0"/>
          </a:p>
        </p:txBody>
      </p:sp>
      <p:sp>
        <p:nvSpPr>
          <p:cNvPr id="21" name="Text 18"/>
          <p:cNvSpPr txBox="1"/>
          <p:nvPr/>
        </p:nvSpPr>
        <p:spPr>
          <a:xfrm>
            <a:off x="6291072" y="17647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Fare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6291072" y="203911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5% vs last week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8961120" y="1280160"/>
            <a:ext cx="2615184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6B2">
                <a:alpha val="25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8961120" y="1280160"/>
            <a:ext cx="54864" cy="10515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9125712" y="1408176"/>
            <a:ext cx="228600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E6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6–9 PM</a:t>
            </a:r>
            <a:endParaRPr lang="en-US" sz="2600" dirty="0"/>
          </a:p>
        </p:txBody>
      </p:sp>
      <p:sp>
        <p:nvSpPr>
          <p:cNvPr id="26" name="Text 23"/>
          <p:cNvSpPr txBox="1"/>
          <p:nvPr/>
        </p:nvSpPr>
        <p:spPr>
          <a:xfrm>
            <a:off x="9125712" y="17647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Peak-Hour Window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9125712" y="203911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38% of daily demand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457200" y="2542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TRIP DEMAND VS. SURGE MULTIPLIER</a:t>
            </a:r>
            <a:endParaRPr lang="en-US" sz="1250" dirty="0"/>
          </a:p>
        </p:txBody>
      </p:sp>
      <p:graphicFrame>
        <p:nvGraphicFramePr>
          <p:cNvPr id="29" name="Chart 0" descr=""/>
          <p:cNvGraphicFramePr/>
          <p:nvPr/>
        </p:nvGraphicFramePr>
        <p:xfrm>
          <a:off x="457200" y="2852928"/>
          <a:ext cx="694944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0" name="Text 26"/>
          <p:cNvSpPr txBox="1"/>
          <p:nvPr/>
        </p:nvSpPr>
        <p:spPr>
          <a:xfrm>
            <a:off x="7223760" y="254203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BY ZONE</a:t>
            </a:r>
            <a:endParaRPr lang="en-US" sz="1250" dirty="0"/>
          </a:p>
        </p:txBody>
      </p:sp>
      <p:sp>
        <p:nvSpPr>
          <p:cNvPr id="31" name="Text 27"/>
          <p:cNvSpPr txBox="1"/>
          <p:nvPr/>
        </p:nvSpPr>
        <p:spPr>
          <a:xfrm>
            <a:off x="7223760" y="287121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Downtown Core</a:t>
            </a:r>
            <a:endParaRPr lang="en-US" sz="1050" dirty="0"/>
          </a:p>
        </p:txBody>
      </p:sp>
      <p:sp>
        <p:nvSpPr>
          <p:cNvPr id="32" name="Shape 28"/>
          <p:cNvSpPr/>
          <p:nvPr/>
        </p:nvSpPr>
        <p:spPr>
          <a:xfrm>
            <a:off x="9372600" y="2889504"/>
            <a:ext cx="1920240" cy="146304"/>
          </a:xfrm>
          <a:prstGeom prst="roundRect">
            <a:avLst>
              <a:gd name="adj" fmla="val 18750"/>
            </a:avLst>
          </a:prstGeom>
          <a:solidFill>
            <a:srgbClr val="E3E7EE"/>
          </a:solidFill>
          <a:ln/>
        </p:spPr>
      </p:sp>
      <p:sp>
        <p:nvSpPr>
          <p:cNvPr id="33" name="Shape 29"/>
          <p:cNvSpPr/>
          <p:nvPr/>
        </p:nvSpPr>
        <p:spPr>
          <a:xfrm>
            <a:off x="9372600" y="2889504"/>
            <a:ext cx="1766621" cy="146304"/>
          </a:xfrm>
          <a:prstGeom prst="roundRect">
            <a:avLst>
              <a:gd name="adj" fmla="val 18750"/>
            </a:avLst>
          </a:prstGeom>
          <a:solidFill>
            <a:srgbClr val="1E66F5"/>
          </a:solidFill>
          <a:ln/>
        </p:spPr>
      </p:sp>
      <p:sp>
        <p:nvSpPr>
          <p:cNvPr id="34" name="Text 30"/>
          <p:cNvSpPr txBox="1"/>
          <p:nvPr/>
        </p:nvSpPr>
        <p:spPr>
          <a:xfrm>
            <a:off x="7223760" y="320040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Corridor</a:t>
            </a:r>
            <a:endParaRPr lang="en-US" sz="1050" dirty="0"/>
          </a:p>
        </p:txBody>
      </p:sp>
      <p:sp>
        <p:nvSpPr>
          <p:cNvPr id="35" name="Shape 31"/>
          <p:cNvSpPr/>
          <p:nvPr/>
        </p:nvSpPr>
        <p:spPr>
          <a:xfrm>
            <a:off x="9372600" y="3218688"/>
            <a:ext cx="1920240" cy="146304"/>
          </a:xfrm>
          <a:prstGeom prst="roundRect">
            <a:avLst>
              <a:gd name="adj" fmla="val 18750"/>
            </a:avLst>
          </a:prstGeom>
          <a:solidFill>
            <a:srgbClr val="E3E7EE"/>
          </a:solidFill>
          <a:ln/>
        </p:spPr>
      </p:sp>
      <p:sp>
        <p:nvSpPr>
          <p:cNvPr id="36" name="Shape 32"/>
          <p:cNvSpPr/>
          <p:nvPr/>
        </p:nvSpPr>
        <p:spPr>
          <a:xfrm>
            <a:off x="9372600" y="3218688"/>
            <a:ext cx="1497787" cy="146304"/>
          </a:xfrm>
          <a:prstGeom prst="roundRect">
            <a:avLst>
              <a:gd name="adj" fmla="val 18750"/>
            </a:avLst>
          </a:prstGeom>
          <a:solidFill>
            <a:srgbClr val="1E66F5"/>
          </a:solidFill>
          <a:ln/>
        </p:spPr>
      </p:sp>
      <p:sp>
        <p:nvSpPr>
          <p:cNvPr id="37" name="Text 33"/>
          <p:cNvSpPr txBox="1"/>
          <p:nvPr/>
        </p:nvSpPr>
        <p:spPr>
          <a:xfrm>
            <a:off x="7223760" y="3529584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Airport Route</a:t>
            </a:r>
            <a:endParaRPr lang="en-US" sz="1050" dirty="0"/>
          </a:p>
        </p:txBody>
      </p:sp>
      <p:sp>
        <p:nvSpPr>
          <p:cNvPr id="38" name="Shape 34"/>
          <p:cNvSpPr/>
          <p:nvPr/>
        </p:nvSpPr>
        <p:spPr>
          <a:xfrm>
            <a:off x="9372600" y="3547872"/>
            <a:ext cx="1920240" cy="146304"/>
          </a:xfrm>
          <a:prstGeom prst="roundRect">
            <a:avLst>
              <a:gd name="adj" fmla="val 18750"/>
            </a:avLst>
          </a:prstGeom>
          <a:solidFill>
            <a:srgbClr val="E3E7EE"/>
          </a:solidFill>
          <a:ln/>
        </p:spPr>
      </p:sp>
      <p:sp>
        <p:nvSpPr>
          <p:cNvPr id="39" name="Shape 35"/>
          <p:cNvSpPr/>
          <p:nvPr/>
        </p:nvSpPr>
        <p:spPr>
          <a:xfrm>
            <a:off x="9372600" y="3547872"/>
            <a:ext cx="1248156" cy="146304"/>
          </a:xfrm>
          <a:prstGeom prst="roundRect">
            <a:avLst>
              <a:gd name="adj" fmla="val 18750"/>
            </a:avLst>
          </a:prstGeom>
          <a:solidFill>
            <a:srgbClr val="1E66F5"/>
          </a:solidFill>
          <a:ln/>
        </p:spPr>
      </p:sp>
      <p:sp>
        <p:nvSpPr>
          <p:cNvPr id="40" name="Text 36"/>
          <p:cNvSpPr txBox="1"/>
          <p:nvPr/>
        </p:nvSpPr>
        <p:spPr>
          <a:xfrm>
            <a:off x="7223760" y="385876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Belt</a:t>
            </a:r>
            <a:endParaRPr lang="en-US" sz="1050" dirty="0"/>
          </a:p>
        </p:txBody>
      </p:sp>
      <p:sp>
        <p:nvSpPr>
          <p:cNvPr id="41" name="Shape 37"/>
          <p:cNvSpPr/>
          <p:nvPr/>
        </p:nvSpPr>
        <p:spPr>
          <a:xfrm>
            <a:off x="9372600" y="3877056"/>
            <a:ext cx="1920240" cy="146304"/>
          </a:xfrm>
          <a:prstGeom prst="roundRect">
            <a:avLst>
              <a:gd name="adj" fmla="val 18750"/>
            </a:avLst>
          </a:prstGeom>
          <a:solidFill>
            <a:srgbClr val="E3E7EE"/>
          </a:solidFill>
          <a:ln/>
        </p:spPr>
      </p:sp>
      <p:sp>
        <p:nvSpPr>
          <p:cNvPr id="42" name="Shape 38"/>
          <p:cNvSpPr/>
          <p:nvPr/>
        </p:nvSpPr>
        <p:spPr>
          <a:xfrm>
            <a:off x="9372600" y="3877056"/>
            <a:ext cx="1036930" cy="146304"/>
          </a:xfrm>
          <a:prstGeom prst="roundRect">
            <a:avLst>
              <a:gd name="adj" fmla="val 18750"/>
            </a:avLst>
          </a:prstGeom>
          <a:solidFill>
            <a:srgbClr val="1E66F5"/>
          </a:solidFill>
          <a:ln/>
        </p:spPr>
      </p:sp>
      <p:sp>
        <p:nvSpPr>
          <p:cNvPr id="43" name="Text 39"/>
          <p:cNvSpPr txBox="1"/>
          <p:nvPr/>
        </p:nvSpPr>
        <p:spPr>
          <a:xfrm>
            <a:off x="7223760" y="418795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Suburban West</a:t>
            </a:r>
            <a:endParaRPr lang="en-US" sz="1050" dirty="0"/>
          </a:p>
        </p:txBody>
      </p:sp>
      <p:sp>
        <p:nvSpPr>
          <p:cNvPr id="44" name="Shape 40"/>
          <p:cNvSpPr/>
          <p:nvPr/>
        </p:nvSpPr>
        <p:spPr>
          <a:xfrm>
            <a:off x="9372600" y="4206240"/>
            <a:ext cx="1920240" cy="146304"/>
          </a:xfrm>
          <a:prstGeom prst="roundRect">
            <a:avLst>
              <a:gd name="adj" fmla="val 18750"/>
            </a:avLst>
          </a:prstGeom>
          <a:solidFill>
            <a:srgbClr val="E3E7EE"/>
          </a:solidFill>
          <a:ln/>
        </p:spPr>
      </p:sp>
      <p:sp>
        <p:nvSpPr>
          <p:cNvPr id="45" name="Shape 41"/>
          <p:cNvSpPr/>
          <p:nvPr/>
        </p:nvSpPr>
        <p:spPr>
          <a:xfrm>
            <a:off x="9372600" y="4206240"/>
            <a:ext cx="652882" cy="146304"/>
          </a:xfrm>
          <a:prstGeom prst="roundRect">
            <a:avLst>
              <a:gd name="adj" fmla="val 18750"/>
            </a:avLst>
          </a:prstGeom>
          <a:solidFill>
            <a:srgbClr val="1E66F5"/>
          </a:solidFill>
          <a:ln/>
        </p:spPr>
      </p:sp>
      <p:sp>
        <p:nvSpPr>
          <p:cNvPr id="46" name="Shape 42"/>
          <p:cNvSpPr/>
          <p:nvPr/>
        </p:nvSpPr>
        <p:spPr>
          <a:xfrm>
            <a:off x="7223760" y="4572000"/>
            <a:ext cx="4069080" cy="1298448"/>
          </a:xfrm>
          <a:prstGeom prst="roundRect">
            <a:avLst>
              <a:gd name="adj" fmla="val 6338"/>
            </a:avLst>
          </a:prstGeom>
          <a:solidFill>
            <a:srgbClr val="E3F9F1"/>
          </a:solidFill>
          <a:ln w="12700">
            <a:solidFill>
              <a:srgbClr val="BEEBDA"/>
            </a:solidFill>
            <a:prstDash val="solid"/>
          </a:ln>
        </p:spPr>
      </p:sp>
      <p:sp>
        <p:nvSpPr>
          <p:cNvPr id="47" name="Text 43"/>
          <p:cNvSpPr txBox="1"/>
          <p:nvPr/>
        </p:nvSpPr>
        <p:spPr>
          <a:xfrm>
            <a:off x="7406640" y="47000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Growth (WoW)</a:t>
            </a:r>
            <a:endParaRPr lang="en-US" sz="1100" dirty="0"/>
          </a:p>
        </p:txBody>
      </p:sp>
      <p:sp>
        <p:nvSpPr>
          <p:cNvPr id="48" name="Text 44"/>
          <p:cNvSpPr txBox="1"/>
          <p:nvPr/>
        </p:nvSpPr>
        <p:spPr>
          <a:xfrm>
            <a:off x="7406640" y="493776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B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+18.4%</a:t>
            </a:r>
            <a:endParaRPr lang="en-US" sz="3400" dirty="0"/>
          </a:p>
        </p:txBody>
      </p:sp>
      <p:sp>
        <p:nvSpPr>
          <p:cNvPr id="49" name="Text 45"/>
          <p:cNvSpPr txBox="1"/>
          <p:nvPr/>
        </p:nvSpPr>
        <p:spPr>
          <a:xfrm>
            <a:off x="7406640" y="5504688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Sustained rise driven by evening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commute + weekend leisure trips</a:t>
            </a:r>
            <a:endParaRPr lang="en-US" sz="950" dirty="0"/>
          </a:p>
        </p:txBody>
      </p:sp>
      <p:sp>
        <p:nvSpPr>
          <p:cNvPr id="50" name="Text 46"/>
          <p:cNvSpPr txBox="1"/>
          <p:nvPr/>
        </p:nvSpPr>
        <p:spPr>
          <a:xfrm>
            <a:off x="457200" y="654710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Pulse  •  Smart City Mobility Intelligence Platform  •  Milestone 3</a:t>
            </a:r>
            <a:endParaRPr lang="en-US" sz="900" dirty="0"/>
          </a:p>
        </p:txBody>
      </p:sp>
      <p:sp>
        <p:nvSpPr>
          <p:cNvPr id="51" name="Text 47"/>
          <p:cNvSpPr txBox="1"/>
          <p:nvPr/>
        </p:nvSpPr>
        <p:spPr>
          <a:xfrm>
            <a:off x="11277295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19456"/>
            <a:ext cx="621792" cy="621792"/>
          </a:xfrm>
          <a:prstGeom prst="ellipse">
            <a:avLst/>
          </a:prstGeom>
          <a:solidFill>
            <a:srgbClr val="1E66F5"/>
          </a:solidFill>
          <a:ln/>
        </p:spPr>
      </p:sp>
      <p:pic>
        <p:nvPicPr>
          <p:cNvPr id="4" name="Image 0" descr="/home/claude/urbanpulse/icons/micromobil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" y="370332"/>
            <a:ext cx="320040" cy="3200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34440" y="1645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B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02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1234440" y="38404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Cycling &amp; Micromobility Analytics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9448495" y="164592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FB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PULSE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" y="1280160"/>
            <a:ext cx="2615184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6B2">
                <a:alpha val="2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7200" y="1280160"/>
            <a:ext cx="54864" cy="10515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21792" y="1408176"/>
            <a:ext cx="228600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00B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8,940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621792" y="17647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Bike-Share Trips Today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621792" y="203911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9% vs last week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291840" y="1280160"/>
            <a:ext cx="2615184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6B2">
                <a:alpha val="2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91840" y="1280160"/>
            <a:ext cx="54864" cy="10515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3456432" y="1408176"/>
            <a:ext cx="228600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E6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3,210</a:t>
            </a:r>
            <a:endParaRPr lang="en-US" sz="2600" dirty="0"/>
          </a:p>
        </p:txBody>
      </p:sp>
      <p:sp>
        <p:nvSpPr>
          <p:cNvPr id="16" name="Text 13"/>
          <p:cNvSpPr txBox="1"/>
          <p:nvPr/>
        </p:nvSpPr>
        <p:spPr>
          <a:xfrm>
            <a:off x="3456432" y="17647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Bikes (fleet)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3456432" y="203911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 fleet availability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126480" y="1280160"/>
            <a:ext cx="2615184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6B2">
                <a:alpha val="2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126480" y="1280160"/>
            <a:ext cx="54864" cy="10515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291072" y="1408176"/>
            <a:ext cx="228600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E6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</a:t>
            </a:r>
            <a:endParaRPr lang="en-US" sz="2600" dirty="0"/>
          </a:p>
        </p:txBody>
      </p:sp>
      <p:sp>
        <p:nvSpPr>
          <p:cNvPr id="21" name="Text 18"/>
          <p:cNvSpPr txBox="1"/>
          <p:nvPr/>
        </p:nvSpPr>
        <p:spPr>
          <a:xfrm>
            <a:off x="6291072" y="17647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Station Utilization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6291072" y="203911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6 pts vs last week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8961120" y="1280160"/>
            <a:ext cx="2615184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6B2">
                <a:alpha val="25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8961120" y="1280160"/>
            <a:ext cx="54864" cy="10515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9125712" y="1408176"/>
            <a:ext cx="228600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00B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4.6x</a:t>
            </a:r>
            <a:endParaRPr lang="en-US" sz="2600" dirty="0"/>
          </a:p>
        </p:txBody>
      </p:sp>
      <p:sp>
        <p:nvSpPr>
          <p:cNvPr id="26" name="Text 23"/>
          <p:cNvSpPr txBox="1"/>
          <p:nvPr/>
        </p:nvSpPr>
        <p:spPr>
          <a:xfrm>
            <a:off x="9125712" y="17647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Bike Turnover Rate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9125712" y="203911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dock, city-wide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457200" y="2542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 UTILIZATION BY ZONE</a:t>
            </a:r>
            <a:endParaRPr lang="en-US" sz="1250" dirty="0"/>
          </a:p>
        </p:txBody>
      </p:sp>
      <p:graphicFrame>
        <p:nvGraphicFramePr>
          <p:cNvPr id="29" name="Chart 0" descr=""/>
          <p:cNvGraphicFramePr/>
          <p:nvPr/>
        </p:nvGraphicFramePr>
        <p:xfrm>
          <a:off x="457200" y="2852928"/>
          <a:ext cx="694944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0" name="Text 26"/>
          <p:cNvSpPr txBox="1"/>
          <p:nvPr/>
        </p:nvSpPr>
        <p:spPr>
          <a:xfrm>
            <a:off x="7223760" y="254203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 AVAILABILITY MIX</a:t>
            </a:r>
            <a:endParaRPr lang="en-US" sz="1250" dirty="0"/>
          </a:p>
        </p:txBody>
      </p:sp>
      <p:graphicFrame>
        <p:nvGraphicFramePr>
          <p:cNvPr id="31" name="Chart 1" descr=""/>
          <p:cNvGraphicFramePr/>
          <p:nvPr/>
        </p:nvGraphicFramePr>
        <p:xfrm>
          <a:off x="7223760" y="2761488"/>
          <a:ext cx="406908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32" name="Shape 27"/>
          <p:cNvSpPr/>
          <p:nvPr/>
        </p:nvSpPr>
        <p:spPr>
          <a:xfrm>
            <a:off x="7223760" y="4864608"/>
            <a:ext cx="4069080" cy="1005840"/>
          </a:xfrm>
          <a:prstGeom prst="roundRect">
            <a:avLst>
              <a:gd name="adj" fmla="val 8182"/>
            </a:avLst>
          </a:prstGeom>
          <a:solidFill>
            <a:srgbClr val="FFF3E0"/>
          </a:solidFill>
          <a:ln w="12700">
            <a:solidFill>
              <a:srgbClr val="F6DDB0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7388352" y="5029200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34" name="Image 1" descr="/home/claude/urbanpulse/icons/rebalanc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0" y="5138928"/>
            <a:ext cx="237744" cy="237744"/>
          </a:xfrm>
          <a:prstGeom prst="rect">
            <a:avLst/>
          </a:prstGeom>
        </p:spPr>
      </p:pic>
      <p:sp>
        <p:nvSpPr>
          <p:cNvPr id="35" name="Text 29"/>
          <p:cNvSpPr txBox="1"/>
          <p:nvPr/>
        </p:nvSpPr>
        <p:spPr>
          <a:xfrm>
            <a:off x="8001000" y="493776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stations</a:t>
            </a:r>
            <a:pPr indent="0" marL="0">
              <a:buNone/>
            </a:pPr>
            <a:r>
              <a:rPr lang="en-US" sz="105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require rebalancing today — low-availability docks concentrated in Old Town &amp; Harbor View.</a:t>
            </a:r>
            <a:endParaRPr lang="en-US" sz="1050" dirty="0"/>
          </a:p>
        </p:txBody>
      </p:sp>
      <p:sp>
        <p:nvSpPr>
          <p:cNvPr id="36" name="Text 30"/>
          <p:cNvSpPr txBox="1"/>
          <p:nvPr/>
        </p:nvSpPr>
        <p:spPr>
          <a:xfrm>
            <a:off x="457200" y="654710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Pulse  •  Smart City Mobility Intelligence Platform  •  Milestone 3</a:t>
            </a:r>
            <a:endParaRPr lang="en-US" sz="900" dirty="0"/>
          </a:p>
        </p:txBody>
      </p:sp>
      <p:sp>
        <p:nvSpPr>
          <p:cNvPr id="37" name="Text 31"/>
          <p:cNvSpPr txBox="1"/>
          <p:nvPr/>
        </p:nvSpPr>
        <p:spPr>
          <a:xfrm>
            <a:off x="11277295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19456"/>
            <a:ext cx="621792" cy="621792"/>
          </a:xfrm>
          <a:prstGeom prst="ellipse">
            <a:avLst/>
          </a:prstGeom>
          <a:solidFill>
            <a:srgbClr val="1E66F5"/>
          </a:solidFill>
          <a:ln/>
        </p:spPr>
      </p:sp>
      <p:pic>
        <p:nvPicPr>
          <p:cNvPr id="4" name="Image 0" descr="/home/claude/urbanpulse/icons/modal_su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" y="370332"/>
            <a:ext cx="320040" cy="3200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34440" y="1645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B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03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1234440" y="38404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 Substitution Analysis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9448495" y="164592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FB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PULSE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188720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ride-hailing surges, transit is delayed, or weather shifts, commuters substitute across modes. Tracking these switches reveals hidden demand elasticity across the network.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828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MODAL SPLIT</a:t>
            </a:r>
            <a:endParaRPr lang="en-US" sz="125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457200" y="2148840"/>
          <a:ext cx="539496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 7"/>
          <p:cNvSpPr txBox="1"/>
          <p:nvPr/>
        </p:nvSpPr>
        <p:spPr>
          <a:xfrm>
            <a:off x="6035040" y="18288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 SWITCHING FLOW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126480" y="2331720"/>
            <a:ext cx="1965960" cy="658368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 w="12700">
            <a:solidFill>
              <a:srgbClr val="E3E7EE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217920" y="2432304"/>
            <a:ext cx="457200" cy="45720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14" name="Image 1" descr="/home/claude/urbanpulse/icons/bu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792" y="2551176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766560" y="2331720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126480" y="3246120"/>
            <a:ext cx="1965960" cy="658368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 w="12700">
            <a:solidFill>
              <a:srgbClr val="E3E7EE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217920" y="3346704"/>
            <a:ext cx="457200" cy="457200"/>
          </a:xfrm>
          <a:prstGeom prst="ellipse">
            <a:avLst/>
          </a:prstGeom>
          <a:solidFill>
            <a:srgbClr val="1E66F5"/>
          </a:solidFill>
          <a:ln/>
        </p:spPr>
      </p:sp>
      <p:pic>
        <p:nvPicPr>
          <p:cNvPr id="18" name="Image 2" descr="/home/claude/urbanpulse/icons/ca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6792" y="3465576"/>
            <a:ext cx="219456" cy="219456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766560" y="3246120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Ride-Hailing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6126480" y="4160520"/>
            <a:ext cx="1965960" cy="658368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 w="12700">
            <a:solidFill>
              <a:srgbClr val="E3E7EE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6217920" y="4261104"/>
            <a:ext cx="457200" cy="457200"/>
          </a:xfrm>
          <a:prstGeom prst="ellipse">
            <a:avLst/>
          </a:prstGeom>
          <a:solidFill>
            <a:srgbClr val="00B37E"/>
          </a:solidFill>
          <a:ln/>
        </p:spPr>
      </p:sp>
      <p:pic>
        <p:nvPicPr>
          <p:cNvPr id="22" name="Image 3" descr="/home/claude/urbanpulse/icons/micromobilit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6792" y="4379976"/>
            <a:ext cx="219456" cy="219456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6766560" y="4160520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Bike-Share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6126480" y="5074920"/>
            <a:ext cx="1965960" cy="658368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 w="12700">
            <a:solidFill>
              <a:srgbClr val="E3E7EE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6217920" y="5175504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26" name="Image 4" descr="/home/claude/urbanpulse/icons/walking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6792" y="5294376"/>
            <a:ext cx="219456" cy="219456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6766560" y="5074920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Walking</a:t>
            </a:r>
            <a:endParaRPr lang="en-US" sz="1200" dirty="0"/>
          </a:p>
        </p:txBody>
      </p:sp>
      <p:sp>
        <p:nvSpPr>
          <p:cNvPr id="28" name="Shape 20"/>
          <p:cNvSpPr/>
          <p:nvPr/>
        </p:nvSpPr>
        <p:spPr>
          <a:xfrm>
            <a:off x="8229600" y="2935224"/>
            <a:ext cx="411480" cy="365760"/>
          </a:xfrm>
          <a:prstGeom prst="bentConnector3">
            <a:avLst/>
          </a:prstGeom>
          <a:noFill/>
          <a:ln w="22225">
            <a:solidFill>
              <a:srgbClr val="1E66F5"/>
            </a:solidFill>
            <a:prstDash val="solid"/>
            <a:tailEnd type="triangle"/>
          </a:ln>
        </p:spPr>
      </p:sp>
      <p:sp>
        <p:nvSpPr>
          <p:cNvPr id="29" name="Shape 21"/>
          <p:cNvSpPr/>
          <p:nvPr/>
        </p:nvSpPr>
        <p:spPr>
          <a:xfrm>
            <a:off x="8229600" y="3849624"/>
            <a:ext cx="411480" cy="365760"/>
          </a:xfrm>
          <a:prstGeom prst="bentConnector3">
            <a:avLst/>
          </a:prstGeom>
          <a:noFill/>
          <a:ln w="22225">
            <a:solidFill>
              <a:srgbClr val="1E66F5"/>
            </a:solidFill>
            <a:prstDash val="solid"/>
            <a:tailEnd type="triangle"/>
          </a:ln>
        </p:spPr>
      </p:sp>
      <p:sp>
        <p:nvSpPr>
          <p:cNvPr id="30" name="Shape 22"/>
          <p:cNvSpPr/>
          <p:nvPr/>
        </p:nvSpPr>
        <p:spPr>
          <a:xfrm>
            <a:off x="8229600" y="4764024"/>
            <a:ext cx="411480" cy="365760"/>
          </a:xfrm>
          <a:prstGeom prst="bentConnector3">
            <a:avLst/>
          </a:prstGeom>
          <a:noFill/>
          <a:ln w="22225">
            <a:solidFill>
              <a:srgbClr val="1E66F5"/>
            </a:solidFill>
            <a:prstDash val="solid"/>
            <a:tailEnd type="triangle"/>
          </a:ln>
        </p:spPr>
      </p:sp>
      <p:sp>
        <p:nvSpPr>
          <p:cNvPr id="31" name="Shape 23"/>
          <p:cNvSpPr/>
          <p:nvPr/>
        </p:nvSpPr>
        <p:spPr>
          <a:xfrm>
            <a:off x="8732520" y="3566160"/>
            <a:ext cx="2880360" cy="868680"/>
          </a:xfrm>
          <a:prstGeom prst="roundRect">
            <a:avLst>
              <a:gd name="adj" fmla="val 9474"/>
            </a:avLst>
          </a:prstGeom>
          <a:solidFill>
            <a:srgbClr val="E8F0FE"/>
          </a:solidFill>
          <a:ln w="12700">
            <a:solidFill>
              <a:srgbClr val="CBDCFB"/>
            </a:solidFill>
            <a:prstDash val="solid"/>
          </a:ln>
        </p:spPr>
      </p:sp>
      <p:sp>
        <p:nvSpPr>
          <p:cNvPr id="32" name="Text 24"/>
          <p:cNvSpPr txBox="1"/>
          <p:nvPr/>
        </p:nvSpPr>
        <p:spPr>
          <a:xfrm>
            <a:off x="8887968" y="3639312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substitution: </a:t>
            </a:r>
            <a:pPr indent="0" marL="0">
              <a:buNone/>
            </a:pPr>
            <a:r>
              <a:rPr lang="en-US" sz="98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 → Ride-Hailing during service delays (+22% spillover)</a:t>
            </a:r>
            <a:endParaRPr lang="en-US" sz="980" dirty="0"/>
          </a:p>
        </p:txBody>
      </p:sp>
      <p:sp>
        <p:nvSpPr>
          <p:cNvPr id="33" name="Text 25"/>
          <p:cNvSpPr txBox="1"/>
          <p:nvPr/>
        </p:nvSpPr>
        <p:spPr>
          <a:xfrm>
            <a:off x="457200" y="654710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Pulse  •  Smart City Mobility Intelligence Platform  •  Milestone 3</a:t>
            </a:r>
            <a:endParaRPr lang="en-US" sz="900" dirty="0"/>
          </a:p>
        </p:txBody>
      </p:sp>
      <p:sp>
        <p:nvSpPr>
          <p:cNvPr id="34" name="Text 26"/>
          <p:cNvSpPr txBox="1"/>
          <p:nvPr/>
        </p:nvSpPr>
        <p:spPr>
          <a:xfrm>
            <a:off x="11277295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19456"/>
            <a:ext cx="621792" cy="621792"/>
          </a:xfrm>
          <a:prstGeom prst="ellipse">
            <a:avLst/>
          </a:prstGeom>
          <a:solidFill>
            <a:srgbClr val="1E66F5"/>
          </a:solidFill>
          <a:ln/>
        </p:spPr>
      </p:sp>
      <p:pic>
        <p:nvPicPr>
          <p:cNvPr id="4" name="Image 0" descr="/home/claude/urbanpulse/icons/forecast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" y="370332"/>
            <a:ext cx="320040" cy="3200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34440" y="1645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B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04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1234440" y="38404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Sensitivity &amp; Demand Forecasting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9448495" y="164592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FB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PULSE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" y="1280160"/>
            <a:ext cx="2615184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6B2">
                <a:alpha val="2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7200" y="1280160"/>
            <a:ext cx="54864" cy="10515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21792" y="1408176"/>
            <a:ext cx="228600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00B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94.2%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621792" y="17647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Model Accuracy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621792" y="203911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7-day rolling avg.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291840" y="1280160"/>
            <a:ext cx="2615184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6B2">
                <a:alpha val="2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91840" y="1280160"/>
            <a:ext cx="54864" cy="10515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3456432" y="1408176"/>
            <a:ext cx="228600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±22%</a:t>
            </a:r>
            <a:endParaRPr lang="en-US" sz="2600" dirty="0"/>
          </a:p>
        </p:txBody>
      </p:sp>
      <p:sp>
        <p:nvSpPr>
          <p:cNvPr id="16" name="Text 13"/>
          <p:cNvSpPr txBox="1"/>
          <p:nvPr/>
        </p:nvSpPr>
        <p:spPr>
          <a:xfrm>
            <a:off x="3456432" y="17647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Weather-Driven Demand Swing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3456432" y="203911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vs. clear-day baseline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126480" y="1280160"/>
            <a:ext cx="2615184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6B2">
                <a:alpha val="2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126480" y="1280160"/>
            <a:ext cx="54864" cy="10515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291072" y="1408176"/>
            <a:ext cx="228600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E6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+35%</a:t>
            </a:r>
            <a:endParaRPr lang="en-US" sz="2600" dirty="0"/>
          </a:p>
        </p:txBody>
      </p:sp>
      <p:sp>
        <p:nvSpPr>
          <p:cNvPr id="21" name="Text 18"/>
          <p:cNvSpPr txBox="1"/>
          <p:nvPr/>
        </p:nvSpPr>
        <p:spPr>
          <a:xfrm>
            <a:off x="6291072" y="17647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Ride-Hailing Demand in Rain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6291072" y="203911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clear conditions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8961120" y="1280160"/>
            <a:ext cx="2615184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6B2">
                <a:alpha val="25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8961120" y="1280160"/>
            <a:ext cx="54864" cy="10515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9125712" y="1408176"/>
            <a:ext cx="228600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-41%</a:t>
            </a:r>
            <a:endParaRPr lang="en-US" sz="2600" dirty="0"/>
          </a:p>
        </p:txBody>
      </p:sp>
      <p:sp>
        <p:nvSpPr>
          <p:cNvPr id="26" name="Text 23"/>
          <p:cNvSpPr txBox="1"/>
          <p:nvPr/>
        </p:nvSpPr>
        <p:spPr>
          <a:xfrm>
            <a:off x="9125712" y="17647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Bike-Share Demand in Rain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9125712" y="203911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clear conditions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457200" y="2542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7-DAY DEMAND FORECAST VS. ACTUAL TRIPS</a:t>
            </a:r>
            <a:endParaRPr lang="en-US" sz="1250" dirty="0"/>
          </a:p>
        </p:txBody>
      </p:sp>
      <p:graphicFrame>
        <p:nvGraphicFramePr>
          <p:cNvPr id="29" name="Chart 0" descr=""/>
          <p:cNvGraphicFramePr/>
          <p:nvPr/>
        </p:nvGraphicFramePr>
        <p:xfrm>
          <a:off x="457200" y="2852928"/>
          <a:ext cx="694944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0" name="Text 26"/>
          <p:cNvSpPr txBox="1"/>
          <p:nvPr/>
        </p:nvSpPr>
        <p:spPr>
          <a:xfrm>
            <a:off x="7223760" y="254203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BY WEATHER CONDITION</a:t>
            </a:r>
            <a:endParaRPr lang="en-US" sz="1250" dirty="0"/>
          </a:p>
        </p:txBody>
      </p:sp>
      <p:sp>
        <p:nvSpPr>
          <p:cNvPr id="31" name="Text 27"/>
          <p:cNvSpPr txBox="1"/>
          <p:nvPr/>
        </p:nvSpPr>
        <p:spPr>
          <a:xfrm>
            <a:off x="9189720" y="288950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6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Ride-Hailing</a:t>
            </a:r>
            <a:endParaRPr lang="en-US" sz="850" dirty="0"/>
          </a:p>
        </p:txBody>
      </p:sp>
      <p:sp>
        <p:nvSpPr>
          <p:cNvPr id="32" name="Text 28"/>
          <p:cNvSpPr txBox="1"/>
          <p:nvPr/>
        </p:nvSpPr>
        <p:spPr>
          <a:xfrm>
            <a:off x="10241280" y="288950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B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Bike-Share</a:t>
            </a:r>
            <a:endParaRPr lang="en-US" sz="850" dirty="0"/>
          </a:p>
        </p:txBody>
      </p:sp>
      <p:sp>
        <p:nvSpPr>
          <p:cNvPr id="33" name="Text 29"/>
          <p:cNvSpPr txBox="1"/>
          <p:nvPr/>
        </p:nvSpPr>
        <p:spPr>
          <a:xfrm>
            <a:off x="7223760" y="312724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</a:t>
            </a:r>
            <a:endParaRPr lang="en-US" sz="1050" dirty="0"/>
          </a:p>
        </p:txBody>
      </p:sp>
      <p:sp>
        <p:nvSpPr>
          <p:cNvPr id="34" name="Shape 30"/>
          <p:cNvSpPr/>
          <p:nvPr/>
        </p:nvSpPr>
        <p:spPr>
          <a:xfrm>
            <a:off x="9098280" y="3182112"/>
            <a:ext cx="1051560" cy="128016"/>
          </a:xfrm>
          <a:prstGeom prst="roundRect">
            <a:avLst>
              <a:gd name="adj" fmla="val 21429"/>
            </a:avLst>
          </a:prstGeom>
          <a:solidFill>
            <a:srgbClr val="E3E7EE"/>
          </a:solidFill>
          <a:ln/>
        </p:spPr>
      </p:sp>
      <p:sp>
        <p:nvSpPr>
          <p:cNvPr id="35" name="Shape 31"/>
          <p:cNvSpPr/>
          <p:nvPr/>
        </p:nvSpPr>
        <p:spPr>
          <a:xfrm>
            <a:off x="9098280" y="3182112"/>
            <a:ext cx="578358" cy="128016"/>
          </a:xfrm>
          <a:prstGeom prst="roundRect">
            <a:avLst>
              <a:gd name="adj" fmla="val 21429"/>
            </a:avLst>
          </a:prstGeom>
          <a:solidFill>
            <a:srgbClr val="1E66F5"/>
          </a:solidFill>
          <a:ln/>
        </p:spPr>
      </p:sp>
      <p:sp>
        <p:nvSpPr>
          <p:cNvPr id="36" name="Shape 32"/>
          <p:cNvSpPr/>
          <p:nvPr/>
        </p:nvSpPr>
        <p:spPr>
          <a:xfrm>
            <a:off x="10195560" y="3182112"/>
            <a:ext cx="1051560" cy="128016"/>
          </a:xfrm>
          <a:prstGeom prst="roundRect">
            <a:avLst>
              <a:gd name="adj" fmla="val 21429"/>
            </a:avLst>
          </a:prstGeom>
          <a:solidFill>
            <a:srgbClr val="E3E7EE"/>
          </a:solidFill>
          <a:ln/>
        </p:spPr>
      </p:sp>
      <p:sp>
        <p:nvSpPr>
          <p:cNvPr id="37" name="Shape 33"/>
          <p:cNvSpPr/>
          <p:nvPr/>
        </p:nvSpPr>
        <p:spPr>
          <a:xfrm>
            <a:off x="10195560" y="3182112"/>
            <a:ext cx="841248" cy="128016"/>
          </a:xfrm>
          <a:prstGeom prst="roundRect">
            <a:avLst>
              <a:gd name="adj" fmla="val 21429"/>
            </a:avLst>
          </a:prstGeom>
          <a:solidFill>
            <a:srgbClr val="00B37E"/>
          </a:solidFill>
          <a:ln/>
        </p:spPr>
      </p:sp>
      <p:sp>
        <p:nvSpPr>
          <p:cNvPr id="38" name="Text 34"/>
          <p:cNvSpPr txBox="1"/>
          <p:nvPr/>
        </p:nvSpPr>
        <p:spPr>
          <a:xfrm>
            <a:off x="7223760" y="358444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Cloudy</a:t>
            </a:r>
            <a:endParaRPr lang="en-US" sz="1050" dirty="0"/>
          </a:p>
        </p:txBody>
      </p:sp>
      <p:sp>
        <p:nvSpPr>
          <p:cNvPr id="39" name="Shape 35"/>
          <p:cNvSpPr/>
          <p:nvPr/>
        </p:nvSpPr>
        <p:spPr>
          <a:xfrm>
            <a:off x="9098280" y="3639312"/>
            <a:ext cx="1051560" cy="128016"/>
          </a:xfrm>
          <a:prstGeom prst="roundRect">
            <a:avLst>
              <a:gd name="adj" fmla="val 21429"/>
            </a:avLst>
          </a:prstGeom>
          <a:solidFill>
            <a:srgbClr val="E3E7EE"/>
          </a:solidFill>
          <a:ln/>
        </p:spPr>
      </p:sp>
      <p:sp>
        <p:nvSpPr>
          <p:cNvPr id="40" name="Shape 36"/>
          <p:cNvSpPr/>
          <p:nvPr/>
        </p:nvSpPr>
        <p:spPr>
          <a:xfrm>
            <a:off x="9098280" y="3639312"/>
            <a:ext cx="651967" cy="128016"/>
          </a:xfrm>
          <a:prstGeom prst="roundRect">
            <a:avLst>
              <a:gd name="adj" fmla="val 21429"/>
            </a:avLst>
          </a:prstGeom>
          <a:solidFill>
            <a:srgbClr val="1E66F5"/>
          </a:solidFill>
          <a:ln/>
        </p:spPr>
      </p:sp>
      <p:sp>
        <p:nvSpPr>
          <p:cNvPr id="41" name="Shape 37"/>
          <p:cNvSpPr/>
          <p:nvPr/>
        </p:nvSpPr>
        <p:spPr>
          <a:xfrm>
            <a:off x="10195560" y="3639312"/>
            <a:ext cx="1051560" cy="128016"/>
          </a:xfrm>
          <a:prstGeom prst="roundRect">
            <a:avLst>
              <a:gd name="adj" fmla="val 21429"/>
            </a:avLst>
          </a:prstGeom>
          <a:solidFill>
            <a:srgbClr val="E3E7EE"/>
          </a:solidFill>
          <a:ln/>
        </p:spPr>
      </p:sp>
      <p:sp>
        <p:nvSpPr>
          <p:cNvPr id="42" name="Shape 38"/>
          <p:cNvSpPr/>
          <p:nvPr/>
        </p:nvSpPr>
        <p:spPr>
          <a:xfrm>
            <a:off x="10195560" y="3639312"/>
            <a:ext cx="715061" cy="128016"/>
          </a:xfrm>
          <a:prstGeom prst="roundRect">
            <a:avLst>
              <a:gd name="adj" fmla="val 21429"/>
            </a:avLst>
          </a:prstGeom>
          <a:solidFill>
            <a:srgbClr val="00B37E"/>
          </a:solidFill>
          <a:ln/>
        </p:spPr>
      </p:sp>
      <p:sp>
        <p:nvSpPr>
          <p:cNvPr id="43" name="Text 39"/>
          <p:cNvSpPr txBox="1"/>
          <p:nvPr/>
        </p:nvSpPr>
        <p:spPr>
          <a:xfrm>
            <a:off x="7223760" y="404164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</a:t>
            </a:r>
            <a:endParaRPr lang="en-US" sz="1050" dirty="0"/>
          </a:p>
        </p:txBody>
      </p:sp>
      <p:sp>
        <p:nvSpPr>
          <p:cNvPr id="44" name="Shape 40"/>
          <p:cNvSpPr/>
          <p:nvPr/>
        </p:nvSpPr>
        <p:spPr>
          <a:xfrm>
            <a:off x="9098280" y="4096512"/>
            <a:ext cx="1051560" cy="128016"/>
          </a:xfrm>
          <a:prstGeom prst="roundRect">
            <a:avLst>
              <a:gd name="adj" fmla="val 21429"/>
            </a:avLst>
          </a:prstGeom>
          <a:solidFill>
            <a:srgbClr val="E3E7EE"/>
          </a:solidFill>
          <a:ln/>
        </p:spPr>
      </p:sp>
      <p:sp>
        <p:nvSpPr>
          <p:cNvPr id="45" name="Shape 41"/>
          <p:cNvSpPr/>
          <p:nvPr/>
        </p:nvSpPr>
        <p:spPr>
          <a:xfrm>
            <a:off x="9098280" y="4096512"/>
            <a:ext cx="925373" cy="128016"/>
          </a:xfrm>
          <a:prstGeom prst="roundRect">
            <a:avLst>
              <a:gd name="adj" fmla="val 21429"/>
            </a:avLst>
          </a:prstGeom>
          <a:solidFill>
            <a:srgbClr val="1E66F5"/>
          </a:solidFill>
          <a:ln/>
        </p:spPr>
      </p:sp>
      <p:sp>
        <p:nvSpPr>
          <p:cNvPr id="46" name="Shape 42"/>
          <p:cNvSpPr/>
          <p:nvPr/>
        </p:nvSpPr>
        <p:spPr>
          <a:xfrm>
            <a:off x="10195560" y="4096512"/>
            <a:ext cx="1051560" cy="128016"/>
          </a:xfrm>
          <a:prstGeom prst="roundRect">
            <a:avLst>
              <a:gd name="adj" fmla="val 21429"/>
            </a:avLst>
          </a:prstGeom>
          <a:solidFill>
            <a:srgbClr val="E3E7EE"/>
          </a:solidFill>
          <a:ln/>
        </p:spPr>
      </p:sp>
      <p:sp>
        <p:nvSpPr>
          <p:cNvPr id="47" name="Shape 43"/>
          <p:cNvSpPr/>
          <p:nvPr/>
        </p:nvSpPr>
        <p:spPr>
          <a:xfrm>
            <a:off x="10195560" y="4096512"/>
            <a:ext cx="336499" cy="128016"/>
          </a:xfrm>
          <a:prstGeom prst="roundRect">
            <a:avLst>
              <a:gd name="adj" fmla="val 21429"/>
            </a:avLst>
          </a:prstGeom>
          <a:solidFill>
            <a:srgbClr val="00B37E"/>
          </a:solidFill>
          <a:ln/>
        </p:spPr>
      </p:sp>
      <p:sp>
        <p:nvSpPr>
          <p:cNvPr id="48" name="Text 44"/>
          <p:cNvSpPr txBox="1"/>
          <p:nvPr/>
        </p:nvSpPr>
        <p:spPr>
          <a:xfrm>
            <a:off x="7223760" y="449884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Heat</a:t>
            </a:r>
            <a:endParaRPr lang="en-US" sz="1050" dirty="0"/>
          </a:p>
        </p:txBody>
      </p:sp>
      <p:sp>
        <p:nvSpPr>
          <p:cNvPr id="49" name="Shape 45"/>
          <p:cNvSpPr/>
          <p:nvPr/>
        </p:nvSpPr>
        <p:spPr>
          <a:xfrm>
            <a:off x="9098280" y="4553712"/>
            <a:ext cx="1051560" cy="128016"/>
          </a:xfrm>
          <a:prstGeom prst="roundRect">
            <a:avLst>
              <a:gd name="adj" fmla="val 21429"/>
            </a:avLst>
          </a:prstGeom>
          <a:solidFill>
            <a:srgbClr val="E3E7EE"/>
          </a:solidFill>
          <a:ln/>
        </p:spPr>
      </p:sp>
      <p:sp>
        <p:nvSpPr>
          <p:cNvPr id="50" name="Shape 46"/>
          <p:cNvSpPr/>
          <p:nvPr/>
        </p:nvSpPr>
        <p:spPr>
          <a:xfrm>
            <a:off x="9098280" y="4553712"/>
            <a:ext cx="736092" cy="128016"/>
          </a:xfrm>
          <a:prstGeom prst="roundRect">
            <a:avLst>
              <a:gd name="adj" fmla="val 21429"/>
            </a:avLst>
          </a:prstGeom>
          <a:solidFill>
            <a:srgbClr val="1E66F5"/>
          </a:solidFill>
          <a:ln/>
        </p:spPr>
      </p:sp>
      <p:sp>
        <p:nvSpPr>
          <p:cNvPr id="51" name="Shape 47"/>
          <p:cNvSpPr/>
          <p:nvPr/>
        </p:nvSpPr>
        <p:spPr>
          <a:xfrm>
            <a:off x="10195560" y="4553712"/>
            <a:ext cx="1051560" cy="128016"/>
          </a:xfrm>
          <a:prstGeom prst="roundRect">
            <a:avLst>
              <a:gd name="adj" fmla="val 21429"/>
            </a:avLst>
          </a:prstGeom>
          <a:solidFill>
            <a:srgbClr val="E3E7EE"/>
          </a:solidFill>
          <a:ln/>
        </p:spPr>
      </p:sp>
      <p:sp>
        <p:nvSpPr>
          <p:cNvPr id="52" name="Shape 48"/>
          <p:cNvSpPr/>
          <p:nvPr/>
        </p:nvSpPr>
        <p:spPr>
          <a:xfrm>
            <a:off x="10195560" y="4553712"/>
            <a:ext cx="420624" cy="128016"/>
          </a:xfrm>
          <a:prstGeom prst="roundRect">
            <a:avLst>
              <a:gd name="adj" fmla="val 21429"/>
            </a:avLst>
          </a:prstGeom>
          <a:solidFill>
            <a:srgbClr val="00B37E"/>
          </a:solidFill>
          <a:ln/>
        </p:spPr>
      </p:sp>
      <p:sp>
        <p:nvSpPr>
          <p:cNvPr id="53" name="Shape 49"/>
          <p:cNvSpPr/>
          <p:nvPr/>
        </p:nvSpPr>
        <p:spPr>
          <a:xfrm>
            <a:off x="7223760" y="5074920"/>
            <a:ext cx="4069080" cy="822960"/>
          </a:xfrm>
          <a:prstGeom prst="roundRect">
            <a:avLst>
              <a:gd name="adj" fmla="val 10000"/>
            </a:avLst>
          </a:prstGeom>
          <a:solidFill>
            <a:srgbClr val="E3F9F1"/>
          </a:solidFill>
          <a:ln w="12700">
            <a:solidFill>
              <a:srgbClr val="BEEBDA"/>
            </a:solidFill>
            <a:prstDash val="solid"/>
          </a:ln>
        </p:spPr>
      </p:sp>
      <p:sp>
        <p:nvSpPr>
          <p:cNvPr id="54" name="Text 50"/>
          <p:cNvSpPr txBox="1"/>
          <p:nvPr/>
        </p:nvSpPr>
        <p:spPr>
          <a:xfrm>
            <a:off x="7388352" y="5138928"/>
            <a:ext cx="3749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insight: </a:t>
            </a:r>
            <a:pPr indent="0" marL="0">
              <a:buNone/>
            </a:pPr>
            <a:r>
              <a:rPr lang="en-US" sz="98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forecasts 24h ahead can pre-position ride-hailing supply and trigger bike-share rebalancing.</a:t>
            </a:r>
            <a:endParaRPr lang="en-US" sz="980" dirty="0"/>
          </a:p>
        </p:txBody>
      </p:sp>
      <p:sp>
        <p:nvSpPr>
          <p:cNvPr id="55" name="Text 51"/>
          <p:cNvSpPr txBox="1"/>
          <p:nvPr/>
        </p:nvSpPr>
        <p:spPr>
          <a:xfrm>
            <a:off x="457200" y="654710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Pulse  •  Smart City Mobility Intelligence Platform  •  Milestone 3</a:t>
            </a:r>
            <a:endParaRPr lang="en-US" sz="900" dirty="0"/>
          </a:p>
        </p:txBody>
      </p:sp>
      <p:sp>
        <p:nvSpPr>
          <p:cNvPr id="56" name="Text 52"/>
          <p:cNvSpPr txBox="1"/>
          <p:nvPr/>
        </p:nvSpPr>
        <p:spPr>
          <a:xfrm>
            <a:off x="11277295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2026-09-16T13:45:29Z</dcterms:created>
  <dcterms:modified xsi:type="dcterms:W3CDTF">2026-09-16T13:45:29Z</dcterms:modified>
</cp:coreProperties>
</file>